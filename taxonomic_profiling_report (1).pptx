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72" r:id="rId7"/>
    <p:sldId id="258" r:id="rId8"/>
    <p:sldId id="265" r:id="rId9"/>
    <p:sldId id="271" r:id="rId10"/>
    <p:sldId id="267" r:id="rId11"/>
    <p:sldId id="270" r:id="rId12"/>
    <p:sldId id="268" r:id="rId13"/>
    <p:sldId id="269" r:id="rId14"/>
    <p:sldId id="259" r:id="rId15"/>
    <p:sldId id="260" r:id="rId16"/>
    <p:sldId id="261" r:id="rId17"/>
    <p:sldId id="262" r:id="rId18"/>
    <p:sldId id="26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E4162D-5367-4194-8045-A1BC7B1E739F}" v="2" dt="2025-11-24T17:02:21.4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9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B_0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C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Classified Reads</c:v>
                </c:pt>
              </c:strCache>
            </c:strRef>
          </c:tx>
          <c:spPr>
            <a:solidFill>
              <a:srgbClr val="BDC3C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300-4326-9164-978575C249E7}"/>
              </c:ext>
            </c:extLst>
          </c:dPt>
          <c:dPt>
            <c:idx val="1"/>
            <c:invertIfNegative val="0"/>
            <c:bubble3D val="0"/>
            <c:spPr>
              <a:solidFill>
                <a:srgbClr val="16A0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300-4326-9164-978575C249E7}"/>
              </c:ext>
            </c:extLst>
          </c:dPt>
          <c:dPt>
            <c:idx val="2"/>
            <c:invertIfNegative val="0"/>
            <c:bubble3D val="0"/>
            <c:spPr>
              <a:solidFill>
                <a:srgbClr val="FF6B9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300-4326-9164-978575C249E7}"/>
              </c:ext>
            </c:extLst>
          </c:dPt>
          <c:dPt>
            <c:idx val="3"/>
            <c:invertIfNegative val="0"/>
            <c:bubble3D val="0"/>
            <c:spPr>
              <a:solidFill>
                <a:srgbClr val="95A5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300-4326-9164-978575C249E7}"/>
              </c:ext>
            </c:extLst>
          </c:dPt>
          <c:cat>
            <c:strRef>
              <c:f>Sheet1!$A$2:$A$5</c:f>
              <c:strCache>
                <c:ptCount val="4"/>
                <c:pt idx="0">
                  <c:v>Unclassified</c:v>
                </c:pt>
                <c:pt idx="1">
                  <c:v>Homo sapiens</c:v>
                </c:pt>
                <c:pt idx="2">
                  <c:v>S. cerevisiae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99.972999999999999</c:v>
                </c:pt>
                <c:pt idx="1">
                  <c:v>2.4E-2</c:v>
                </c:pt>
                <c:pt idx="2">
                  <c:v>2E-3</c:v>
                </c:pt>
                <c:pt idx="3">
                  <c:v>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300-4326-9164-978575C249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Classification Category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Percentage of Reads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Classified Reads</c:v>
                </c:pt>
              </c:strCache>
            </c:strRef>
          </c:tx>
          <c:spPr>
            <a:solidFill>
              <a:srgbClr val="BDC3C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5AD-4ECC-B610-E966DCB1E7D2}"/>
              </c:ext>
            </c:extLst>
          </c:dPt>
          <c:dPt>
            <c:idx val="1"/>
            <c:invertIfNegative val="0"/>
            <c:bubble3D val="0"/>
            <c:spPr>
              <a:solidFill>
                <a:srgbClr val="16A0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5AD-4ECC-B610-E966DCB1E7D2}"/>
              </c:ext>
            </c:extLst>
          </c:dPt>
          <c:dPt>
            <c:idx val="2"/>
            <c:invertIfNegative val="0"/>
            <c:bubble3D val="0"/>
            <c:spPr>
              <a:solidFill>
                <a:srgbClr val="FF6B9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5AD-4ECC-B610-E966DCB1E7D2}"/>
              </c:ext>
            </c:extLst>
          </c:dPt>
          <c:dPt>
            <c:idx val="3"/>
            <c:invertIfNegative val="0"/>
            <c:bubble3D val="0"/>
            <c:spPr>
              <a:solidFill>
                <a:srgbClr val="95A5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5AD-4ECC-B610-E966DCB1E7D2}"/>
              </c:ext>
            </c:extLst>
          </c:dPt>
          <c:cat>
            <c:strRef>
              <c:f>Sheet1!$A$2:$A$5</c:f>
              <c:strCache>
                <c:ptCount val="4"/>
                <c:pt idx="0">
                  <c:v>Unclassified</c:v>
                </c:pt>
                <c:pt idx="1">
                  <c:v>E. ulmoides</c:v>
                </c:pt>
                <c:pt idx="2">
                  <c:v>Homo sapiens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99.75</c:v>
                </c:pt>
                <c:pt idx="1">
                  <c:v>0.22</c:v>
                </c:pt>
                <c:pt idx="2">
                  <c:v>0.02</c:v>
                </c:pt>
                <c:pt idx="3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5AD-4ECC-B610-E966DCB1E7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Classification Category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Percentage of Reads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Classified Reads</c:v>
                </c:pt>
              </c:strCache>
            </c:strRef>
          </c:tx>
          <c:spPr>
            <a:solidFill>
              <a:srgbClr val="BDC3C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C29-4CEC-8F95-1673DBD022BE}"/>
              </c:ext>
            </c:extLst>
          </c:dPt>
          <c:dPt>
            <c:idx val="1"/>
            <c:invertIfNegative val="0"/>
            <c:bubble3D val="0"/>
            <c:spPr>
              <a:solidFill>
                <a:srgbClr val="16A0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C29-4CEC-8F95-1673DBD022BE}"/>
              </c:ext>
            </c:extLst>
          </c:dPt>
          <c:cat>
            <c:strRef>
              <c:f>Sheet1!$A$2:$A$3</c:f>
              <c:strCache>
                <c:ptCount val="2"/>
                <c:pt idx="0">
                  <c:v>Unclassified</c:v>
                </c:pt>
                <c:pt idx="1">
                  <c:v>Assigned (Species)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C29-4CEC-8F95-1673DBD022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Classification Status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Percentage of Reads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9641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52950" y="990600"/>
            <a:ext cx="38100" cy="9525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23065" y="2324100"/>
            <a:ext cx="809786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spcAft>
                <a:spcPts val="900"/>
              </a:spcAft>
              <a:buNone/>
            </a:pPr>
            <a:r>
              <a:rPr lang="en-US" sz="45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Taxonomic Profiling Analysis</a:t>
            </a:r>
            <a:endParaRPr lang="en-US" sz="4500"/>
          </a:p>
        </p:txBody>
      </p:sp>
      <p:sp>
        <p:nvSpPr>
          <p:cNvPr id="4" name="Text 2"/>
          <p:cNvSpPr/>
          <p:nvPr/>
        </p:nvSpPr>
        <p:spPr>
          <a:xfrm>
            <a:off x="2641348" y="3162300"/>
            <a:ext cx="386130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Aft>
                <a:spcPts val="2400"/>
              </a:spcAft>
              <a:buNone/>
            </a:pPr>
            <a:r>
              <a:rPr lang="en-US" sz="18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nf-core/taxprofiler Pipeline Results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3478854" y="3924300"/>
            <a:ext cx="2186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Glen Rogers &amp; Chirayu Patel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Overview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571500" y="1123950"/>
            <a:ext cx="8001000" cy="933301"/>
          </a:xfrm>
          <a:prstGeom prst="roundRect">
            <a:avLst>
              <a:gd name="adj" fmla="val 816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0550" y="1123950"/>
            <a:ext cx="0" cy="933301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8200" y="1352550"/>
            <a:ext cx="765581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nf-core/taxprofiler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838200" y="1642021"/>
            <a:ext cx="76558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Nextflow pipeline for taxonomic classification and profiling of shotgun metagenomic data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571500" y="2285851"/>
            <a:ext cx="2540050" cy="1019026"/>
          </a:xfrm>
          <a:prstGeom prst="roundRect">
            <a:avLst>
              <a:gd name="adj" fmla="val 747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410" y="2476351"/>
            <a:ext cx="220223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Aft>
                <a:spcPts val="300"/>
              </a:spcAft>
              <a:buNone/>
            </a:pPr>
            <a:r>
              <a:rPr lang="en-US" sz="24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740410" y="2941141"/>
            <a:ext cx="22022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</a:t>
            </a:r>
            <a:endParaRPr lang="en-US" sz="975"/>
          </a:p>
        </p:txBody>
      </p:sp>
      <p:sp>
        <p:nvSpPr>
          <p:cNvPr id="10" name="Text 8"/>
          <p:cNvSpPr/>
          <p:nvPr/>
        </p:nvSpPr>
        <p:spPr>
          <a:xfrm>
            <a:off x="3302050" y="2285851"/>
            <a:ext cx="2540050" cy="1019026"/>
          </a:xfrm>
          <a:prstGeom prst="roundRect">
            <a:avLst>
              <a:gd name="adj" fmla="val 747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0959" y="2476351"/>
            <a:ext cx="220223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Aft>
                <a:spcPts val="300"/>
              </a:spcAft>
              <a:buNone/>
            </a:pPr>
            <a:r>
              <a:rPr lang="en-US" sz="24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3470959" y="2941141"/>
            <a:ext cx="22022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Classifiers</a:t>
            </a:r>
            <a:endParaRPr lang="en-US" sz="975"/>
          </a:p>
        </p:txBody>
      </p:sp>
      <p:sp>
        <p:nvSpPr>
          <p:cNvPr id="13" name="Text 11"/>
          <p:cNvSpPr/>
          <p:nvPr/>
        </p:nvSpPr>
        <p:spPr>
          <a:xfrm>
            <a:off x="6032599" y="2285851"/>
            <a:ext cx="2540050" cy="1019026"/>
          </a:xfrm>
          <a:prstGeom prst="roundRect">
            <a:avLst>
              <a:gd name="adj" fmla="val 747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01509" y="2476351"/>
            <a:ext cx="220223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Aft>
                <a:spcPts val="300"/>
              </a:spcAft>
              <a:buNone/>
            </a:pPr>
            <a:r>
              <a:rPr lang="en-US" sz="24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1.3M</a:t>
            </a:r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6201509" y="2941141"/>
            <a:ext cx="22022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High-Quality Reads</a:t>
            </a:r>
            <a:endParaRPr lang="en-US" sz="975"/>
          </a:p>
        </p:txBody>
      </p:sp>
      <p:sp>
        <p:nvSpPr>
          <p:cNvPr id="16" name="Text 14"/>
          <p:cNvSpPr/>
          <p:nvPr/>
        </p:nvSpPr>
        <p:spPr>
          <a:xfrm>
            <a:off x="571500" y="3533477"/>
            <a:ext cx="2540050" cy="784771"/>
          </a:xfrm>
          <a:prstGeom prst="roundRect">
            <a:avLst>
              <a:gd name="adj" fmla="val 9710"/>
            </a:avLst>
          </a:prstGeom>
          <a:solidFill>
            <a:srgbClr val="16A08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2000" y="3723977"/>
            <a:ext cx="22022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Tools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762000" y="3967758"/>
            <a:ext cx="22022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FastQC, fastp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3302050" y="3533477"/>
            <a:ext cx="2540050" cy="784771"/>
          </a:xfrm>
          <a:prstGeom prst="roundRect">
            <a:avLst>
              <a:gd name="adj" fmla="val 9710"/>
            </a:avLst>
          </a:prstGeom>
          <a:solidFill>
            <a:srgbClr val="16A08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92550" y="3723977"/>
            <a:ext cx="22022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3492550" y="3967758"/>
            <a:ext cx="22022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bowtie2, Samtools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6032599" y="3533477"/>
            <a:ext cx="2540050" cy="784771"/>
          </a:xfrm>
          <a:prstGeom prst="roundRect">
            <a:avLst>
              <a:gd name="adj" fmla="val 9710"/>
            </a:avLst>
          </a:prstGeom>
          <a:solidFill>
            <a:srgbClr val="16A08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23099" y="3723977"/>
            <a:ext cx="220223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Taxonomic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6223099" y="3967758"/>
            <a:ext cx="220223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Kraken2, Centrifuge, Kaiju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41" name="Isosceles Triangle 104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64F7548-BEE4-A8B9-D5A8-8098DE012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2600" y="854202"/>
            <a:ext cx="8178799" cy="3435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Isosceles Triangle 104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19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Control Results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571500" y="670768"/>
            <a:ext cx="3886200" cy="1261021"/>
          </a:xfrm>
          <a:prstGeom prst="roundRect">
            <a:avLst>
              <a:gd name="adj" fmla="val 604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5810" y="899368"/>
            <a:ext cx="3497580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10"/>
              </a:lnSpc>
              <a:spcAft>
                <a:spcPts val="450"/>
              </a:spcAft>
              <a:buNone/>
            </a:pPr>
            <a:r>
              <a:rPr lang="en-US" sz="315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 bp</a:t>
            </a:r>
            <a:endParaRPr lang="en-US" sz="3150"/>
          </a:p>
        </p:txBody>
      </p:sp>
      <p:sp>
        <p:nvSpPr>
          <p:cNvPr id="5" name="Text 3"/>
          <p:cNvSpPr/>
          <p:nvPr/>
        </p:nvSpPr>
        <p:spPr>
          <a:xfrm>
            <a:off x="765810" y="1516559"/>
            <a:ext cx="34975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Read Length</a:t>
            </a:r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571500" y="2122289"/>
            <a:ext cx="3886200" cy="1261021"/>
          </a:xfrm>
          <a:prstGeom prst="roundRect">
            <a:avLst>
              <a:gd name="adj" fmla="val 604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5810" y="2350889"/>
            <a:ext cx="3497580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10"/>
              </a:lnSpc>
              <a:spcAft>
                <a:spcPts val="450"/>
              </a:spcAft>
              <a:buNone/>
            </a:pPr>
            <a:r>
              <a:rPr lang="en-US" sz="315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45-47%</a:t>
            </a:r>
            <a:endParaRPr lang="en-US" sz="3150"/>
          </a:p>
        </p:txBody>
      </p:sp>
      <p:sp>
        <p:nvSpPr>
          <p:cNvPr id="8" name="Text 6"/>
          <p:cNvSpPr/>
          <p:nvPr/>
        </p:nvSpPr>
        <p:spPr>
          <a:xfrm>
            <a:off x="765810" y="2968079"/>
            <a:ext cx="34975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 Content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571500" y="3573810"/>
            <a:ext cx="3886200" cy="1261021"/>
          </a:xfrm>
          <a:prstGeom prst="roundRect">
            <a:avLst>
              <a:gd name="adj" fmla="val 604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5810" y="3802410"/>
            <a:ext cx="3497580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10"/>
              </a:lnSpc>
              <a:spcAft>
                <a:spcPts val="450"/>
              </a:spcAft>
              <a:buNone/>
            </a:pPr>
            <a:r>
              <a:rPr lang="en-US" sz="3150" b="1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3150"/>
          </a:p>
        </p:txBody>
      </p:sp>
      <p:sp>
        <p:nvSpPr>
          <p:cNvPr id="11" name="Text 9"/>
          <p:cNvSpPr/>
          <p:nvPr/>
        </p:nvSpPr>
        <p:spPr>
          <a:xfrm>
            <a:off x="765810" y="4419600"/>
            <a:ext cx="34975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Duplication Rate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4686300" y="1450925"/>
            <a:ext cx="3886200" cy="1910209"/>
          </a:xfrm>
          <a:prstGeom prst="roundRect">
            <a:avLst>
              <a:gd name="adj" fmla="val 3989"/>
            </a:avLst>
          </a:prstGeom>
          <a:solidFill>
            <a:srgbClr val="16A085">
              <a:alpha val="10000"/>
            </a:srgbClr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3950" y="1698575"/>
            <a:ext cx="3458718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Aft>
                <a:spcPts val="1200"/>
              </a:spcAft>
              <a:buNone/>
            </a:pPr>
            <a:r>
              <a:rPr lang="en-US" sz="1275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Processing</a:t>
            </a:r>
            <a:endParaRPr lang="en-US" sz="1275"/>
          </a:p>
        </p:txBody>
      </p:sp>
      <p:sp>
        <p:nvSpPr>
          <p:cNvPr id="14" name="Text 12"/>
          <p:cNvSpPr/>
          <p:nvPr/>
        </p:nvSpPr>
        <p:spPr>
          <a:xfrm>
            <a:off x="4933950" y="2077641"/>
            <a:ext cx="345871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trimmed: 62.8%</a:t>
            </a:r>
            <a:endParaRPr lang="en-US" sz="975"/>
          </a:p>
        </p:txBody>
      </p:sp>
      <p:sp>
        <p:nvSpPr>
          <p:cNvPr id="15" name="Text 13"/>
          <p:cNvSpPr/>
          <p:nvPr/>
        </p:nvSpPr>
        <p:spPr>
          <a:xfrm>
            <a:off x="4933950" y="2365177"/>
            <a:ext cx="345871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passing filter: 99.4%</a:t>
            </a:r>
            <a:endParaRPr lang="en-US" sz="975"/>
          </a:p>
        </p:txBody>
      </p:sp>
      <p:sp>
        <p:nvSpPr>
          <p:cNvPr id="16" name="Text 14"/>
          <p:cNvSpPr/>
          <p:nvPr/>
        </p:nvSpPr>
        <p:spPr>
          <a:xfrm>
            <a:off x="4933950" y="2652713"/>
            <a:ext cx="345871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Q30 bases: 94.9%</a:t>
            </a:r>
            <a:endParaRPr lang="en-US" sz="975"/>
          </a:p>
        </p:txBody>
      </p:sp>
      <p:sp>
        <p:nvSpPr>
          <p:cNvPr id="17" name="Text 15"/>
          <p:cNvSpPr/>
          <p:nvPr/>
        </p:nvSpPr>
        <p:spPr>
          <a:xfrm>
            <a:off x="4933950" y="2940248"/>
            <a:ext cx="345871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length: ~106 bp</a:t>
            </a:r>
            <a:endParaRPr lang="en-US" sz="975"/>
          </a:p>
        </p:txBody>
      </p:sp>
      <p:sp>
        <p:nvSpPr>
          <p:cNvPr id="18" name="Text 16"/>
          <p:cNvSpPr/>
          <p:nvPr/>
        </p:nvSpPr>
        <p:spPr>
          <a:xfrm>
            <a:off x="4686300" y="3551634"/>
            <a:ext cx="3886200" cy="502890"/>
          </a:xfrm>
          <a:prstGeom prst="roundRect">
            <a:avLst>
              <a:gd name="adj" fmla="val 15152"/>
            </a:avLst>
          </a:prstGeom>
          <a:solidFill>
            <a:srgbClr val="2C3E50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57750" y="3723084"/>
            <a:ext cx="3614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data quality with minimal loss during filtering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12006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Kraken2 Classification Results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571500" y="1123950"/>
            <a:ext cx="8001000" cy="516136"/>
          </a:xfrm>
          <a:prstGeom prst="roundRect">
            <a:avLst>
              <a:gd name="adj" fmla="val 14764"/>
            </a:avLst>
          </a:prstGeom>
          <a:solidFill>
            <a:srgbClr val="16A08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0550" y="1123950"/>
            <a:ext cx="0" cy="516136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0100" y="1295400"/>
            <a:ext cx="77335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k-mer Exact Matching:</a:t>
            </a:r>
            <a:r>
              <a:rPr lang="en-US" sz="97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Ultra-fast classification using exact k-mer hashing with LCA assignment against NCBI RefSeq</a:t>
            </a:r>
            <a:endParaRPr lang="en-US" sz="975"/>
          </a:p>
        </p:txBody>
      </p:sp>
      <p:sp>
        <p:nvSpPr>
          <p:cNvPr id="6" name="Text 4"/>
          <p:cNvSpPr/>
          <p:nvPr/>
        </p:nvSpPr>
        <p:spPr>
          <a:xfrm>
            <a:off x="5189190" y="2164110"/>
            <a:ext cx="3383310" cy="2624733"/>
          </a:xfrm>
          <a:prstGeom prst="roundRect">
            <a:avLst>
              <a:gd name="adj" fmla="val 290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17790" y="2392710"/>
            <a:ext cx="298463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 Species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5417790" y="2663130"/>
            <a:ext cx="476250" cy="28575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17790" y="2844105"/>
            <a:ext cx="298463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 sapiens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5417790" y="3068836"/>
            <a:ext cx="29846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~0.024% of reads (~304 reads)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5417790" y="3495526"/>
            <a:ext cx="298463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Saccharomyces cerevisiae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5417790" y="3720257"/>
            <a:ext cx="29846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amounts detected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5417790" y="4146947"/>
            <a:ext cx="2926110" cy="413296"/>
          </a:xfrm>
          <a:prstGeom prst="roundRect">
            <a:avLst>
              <a:gd name="adj" fmla="val 13828"/>
            </a:avLst>
          </a:prstGeom>
          <a:solidFill>
            <a:srgbClr val="2C3E50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51140" y="4280297"/>
            <a:ext cx="27125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Species:</a:t>
            </a:r>
            <a:r>
              <a:rPr lang="en-US" sz="82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Account for ~0.027% of total reads</a:t>
            </a:r>
            <a:endParaRPr lang="en-US" sz="825"/>
          </a:p>
        </p:txBody>
      </p:sp>
      <p:graphicFrame>
        <p:nvGraphicFramePr>
          <p:cNvPr id="15" name="Chart 0"/>
          <p:cNvGraphicFramePr/>
          <p:nvPr/>
        </p:nvGraphicFramePr>
        <p:xfrm>
          <a:off x="571500" y="1830586"/>
          <a:ext cx="4389090" cy="3291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677EA02B-0E95-24C9-F732-042DE831B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576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4892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Centrifuge Classification Results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571500" y="1123950"/>
            <a:ext cx="8001000" cy="516136"/>
          </a:xfrm>
          <a:prstGeom prst="roundRect">
            <a:avLst>
              <a:gd name="adj" fmla="val 14764"/>
            </a:avLst>
          </a:prstGeom>
          <a:solidFill>
            <a:srgbClr val="16A08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0550" y="1123950"/>
            <a:ext cx="0" cy="516136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0100" y="1295400"/>
            <a:ext cx="77335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FM-Index Compression:</a:t>
            </a:r>
            <a:r>
              <a:rPr lang="en-US" sz="97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Memory-efficient classification using Burrows-Wheeler transform with compressed RefSeq genomes</a:t>
            </a:r>
            <a:endParaRPr lang="en-US" sz="975"/>
          </a:p>
        </p:txBody>
      </p:sp>
      <p:sp>
        <p:nvSpPr>
          <p:cNvPr id="6" name="Text 4"/>
          <p:cNvSpPr/>
          <p:nvPr/>
        </p:nvSpPr>
        <p:spPr>
          <a:xfrm>
            <a:off x="5189190" y="2164110"/>
            <a:ext cx="3383310" cy="2624733"/>
          </a:xfrm>
          <a:prstGeom prst="roundRect">
            <a:avLst>
              <a:gd name="adj" fmla="val 290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17790" y="2392710"/>
            <a:ext cx="298463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 Species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5417790" y="2663130"/>
            <a:ext cx="476250" cy="28575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17790" y="2844105"/>
            <a:ext cx="298463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Eucommia ulmoides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5417790" y="3068836"/>
            <a:ext cx="29846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~0.22% of reads (Chinese rubber tree)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5417790" y="3495526"/>
            <a:ext cx="298463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 sapiens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5417790" y="3720257"/>
            <a:ext cx="29846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amounts detected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5417790" y="4146947"/>
            <a:ext cx="2926110" cy="413296"/>
          </a:xfrm>
          <a:prstGeom prst="roundRect">
            <a:avLst>
              <a:gd name="adj" fmla="val 13828"/>
            </a:avLst>
          </a:prstGeom>
          <a:solidFill>
            <a:srgbClr val="2C3E50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51140" y="4280297"/>
            <a:ext cx="27125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Species:</a:t>
            </a:r>
            <a:r>
              <a:rPr lang="en-US" sz="82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Account for ~0.2-0.25% of total reads</a:t>
            </a:r>
            <a:endParaRPr lang="en-US" sz="825"/>
          </a:p>
        </p:txBody>
      </p:sp>
      <p:graphicFrame>
        <p:nvGraphicFramePr>
          <p:cNvPr id="15" name="Chart 0"/>
          <p:cNvGraphicFramePr/>
          <p:nvPr/>
        </p:nvGraphicFramePr>
        <p:xfrm>
          <a:off x="571500" y="1830586"/>
          <a:ext cx="4389090" cy="3291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blue squares&#10;&#10;AI-generated content may be incorrect.">
            <a:extLst>
              <a:ext uri="{FF2B5EF4-FFF2-40B4-BE49-F238E27FC236}">
                <a16:creationId xmlns:a16="http://schemas.microsoft.com/office/drawing/2014/main" id="{F1088015-3C30-B33C-4B2C-443D184FE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495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5954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Kaiju Classification Results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571500" y="1123950"/>
            <a:ext cx="8001000" cy="516136"/>
          </a:xfrm>
          <a:prstGeom prst="roundRect">
            <a:avLst>
              <a:gd name="adj" fmla="val 14764"/>
            </a:avLst>
          </a:prstGeom>
          <a:solidFill>
            <a:srgbClr val="16A08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0550" y="1123950"/>
            <a:ext cx="0" cy="516136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0100" y="1295400"/>
            <a:ext cx="77335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Protein-Level Search:</a:t>
            </a:r>
            <a:r>
              <a:rPr lang="en-US" sz="97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Sensitive classification using translated 6-frame protein search against NCBI nr database</a:t>
            </a:r>
            <a:endParaRPr lang="en-US" sz="975"/>
          </a:p>
        </p:txBody>
      </p:sp>
      <p:sp>
        <p:nvSpPr>
          <p:cNvPr id="6" name="Text 4"/>
          <p:cNvSpPr/>
          <p:nvPr/>
        </p:nvSpPr>
        <p:spPr>
          <a:xfrm>
            <a:off x="5189190" y="1972717"/>
            <a:ext cx="3383310" cy="3007519"/>
          </a:xfrm>
          <a:prstGeom prst="roundRect">
            <a:avLst>
              <a:gd name="adj" fmla="val 253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17790" y="2201317"/>
            <a:ext cx="298463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Status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5417790" y="2471738"/>
            <a:ext cx="476250" cy="28575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17790" y="2652713"/>
            <a:ext cx="298463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 Reads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5417790" y="2915543"/>
            <a:ext cx="29846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 at species rank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5417790" y="3342233"/>
            <a:ext cx="298463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Note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5417790" y="3605064"/>
            <a:ext cx="298463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species-level classifications at current stringency threshold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5417790" y="4191744"/>
            <a:ext cx="2926110" cy="559891"/>
          </a:xfrm>
          <a:prstGeom prst="roundRect">
            <a:avLst>
              <a:gd name="adj" fmla="val 10207"/>
            </a:avLst>
          </a:prstGeom>
          <a:solidFill>
            <a:srgbClr val="2C3E50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51140" y="4325094"/>
            <a:ext cx="271259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</a:t>
            </a:r>
            <a:r>
              <a:rPr lang="en-US" sz="82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lower stringency or higher taxonomic ranks (genus/family)</a:t>
            </a:r>
            <a:endParaRPr lang="en-US" sz="825"/>
          </a:p>
        </p:txBody>
      </p:sp>
      <p:graphicFrame>
        <p:nvGraphicFramePr>
          <p:cNvPr id="15" name="Chart 0"/>
          <p:cNvGraphicFramePr/>
          <p:nvPr/>
        </p:nvGraphicFramePr>
        <p:xfrm>
          <a:off x="571500" y="1830586"/>
          <a:ext cx="4389090" cy="3291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a red rectangular bar&#10;&#10;AI-generated content may be incorrect.">
            <a:extLst>
              <a:ext uri="{FF2B5EF4-FFF2-40B4-BE49-F238E27FC236}">
                <a16:creationId xmlns:a16="http://schemas.microsoft.com/office/drawing/2014/main" id="{BCDD3BED-F3E9-5902-7F6B-FFD9BB4EE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780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1589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Kraken2 vs Centrifuge vs Kaiju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571500" y="1076325"/>
            <a:ext cx="8001000" cy="478036"/>
          </a:xfrm>
          <a:prstGeom prst="roundRect">
            <a:avLst>
              <a:gd name="adj" fmla="val 15940"/>
            </a:avLst>
          </a:prstGeom>
          <a:solidFill>
            <a:srgbClr val="16A08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0550" y="1076325"/>
            <a:ext cx="0" cy="478036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0100" y="1228725"/>
            <a:ext cx="77335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nf-core Implementation:</a:t>
            </a:r>
            <a:r>
              <a:rPr lang="en-US" sz="97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Three complementary classifiers optimized for different detection scenarios</a:t>
            </a:r>
            <a:endParaRPr lang="en-US" sz="975"/>
          </a:p>
        </p:txBody>
      </p:sp>
      <p:sp>
        <p:nvSpPr>
          <p:cNvPr id="6" name="Text 4"/>
          <p:cNvSpPr/>
          <p:nvPr/>
        </p:nvSpPr>
        <p:spPr>
          <a:xfrm>
            <a:off x="571500" y="1706761"/>
            <a:ext cx="2565350" cy="2666256"/>
          </a:xfrm>
          <a:prstGeom prst="roundRect">
            <a:avLst>
              <a:gd name="adj" fmla="val 297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2000" y="1897261"/>
            <a:ext cx="222803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Kraken2</a:t>
            </a:r>
            <a:endParaRPr lang="en-US" sz="1350"/>
          </a:p>
        </p:txBody>
      </p:sp>
      <p:sp>
        <p:nvSpPr>
          <p:cNvPr id="8" name="Text 6"/>
          <p:cNvSpPr/>
          <p:nvPr/>
        </p:nvSpPr>
        <p:spPr>
          <a:xfrm>
            <a:off x="762000" y="2175272"/>
            <a:ext cx="333375" cy="28575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2000" y="2299097"/>
            <a:ext cx="2228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k-mer Exact Matching</a:t>
            </a:r>
            <a:endParaRPr lang="en-US" sz="825"/>
          </a:p>
        </p:txBody>
      </p:sp>
      <p:sp>
        <p:nvSpPr>
          <p:cNvPr id="10" name="Text 8"/>
          <p:cNvSpPr/>
          <p:nvPr/>
        </p:nvSpPr>
        <p:spPr>
          <a:xfrm>
            <a:off x="762000" y="2540943"/>
            <a:ext cx="222803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Algorithm:</a:t>
            </a:r>
            <a:r>
              <a:rPr lang="en-US" sz="82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Exact k-mer hashing with LCA assignment</a:t>
            </a:r>
            <a:endParaRPr lang="en-US" sz="825"/>
          </a:p>
        </p:txBody>
      </p:sp>
      <p:sp>
        <p:nvSpPr>
          <p:cNvPr id="11" name="Text 9"/>
          <p:cNvSpPr/>
          <p:nvPr/>
        </p:nvSpPr>
        <p:spPr>
          <a:xfrm>
            <a:off x="762000" y="2910334"/>
            <a:ext cx="2228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</a:t>
            </a:r>
            <a:r>
              <a:rPr lang="en-US" sz="82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NCBI RefSeq/nt genomes</a:t>
            </a:r>
            <a:endParaRPr lang="en-US" sz="825"/>
          </a:p>
        </p:txBody>
      </p:sp>
      <p:sp>
        <p:nvSpPr>
          <p:cNvPr id="12" name="Text 10"/>
          <p:cNvSpPr/>
          <p:nvPr/>
        </p:nvSpPr>
        <p:spPr>
          <a:xfrm>
            <a:off x="762000" y="3133130"/>
            <a:ext cx="2228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Speed:</a:t>
            </a:r>
            <a:r>
              <a:rPr lang="en-US" sz="82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Ultra-fast (millions of reads/min)</a:t>
            </a:r>
            <a:endParaRPr lang="en-US" sz="825"/>
          </a:p>
        </p:txBody>
      </p:sp>
      <p:sp>
        <p:nvSpPr>
          <p:cNvPr id="13" name="Text 11"/>
          <p:cNvSpPr/>
          <p:nvPr/>
        </p:nvSpPr>
        <p:spPr>
          <a:xfrm>
            <a:off x="762000" y="3355925"/>
            <a:ext cx="2228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Memory:</a:t>
            </a:r>
            <a:r>
              <a:rPr lang="en-US" sz="82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 (50-200GB typical)</a:t>
            </a:r>
            <a:endParaRPr lang="en-US" sz="825"/>
          </a:p>
        </p:txBody>
      </p:sp>
      <p:sp>
        <p:nvSpPr>
          <p:cNvPr id="14" name="Text 12"/>
          <p:cNvSpPr/>
          <p:nvPr/>
        </p:nvSpPr>
        <p:spPr>
          <a:xfrm>
            <a:off x="762000" y="3578721"/>
            <a:ext cx="2228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r>
              <a:rPr lang="en-US" sz="82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Known genomes, rapid screening</a:t>
            </a:r>
            <a:endParaRPr lang="en-US" sz="825"/>
          </a:p>
        </p:txBody>
      </p:sp>
      <p:sp>
        <p:nvSpPr>
          <p:cNvPr id="15" name="Text 13"/>
          <p:cNvSpPr/>
          <p:nvPr/>
        </p:nvSpPr>
        <p:spPr>
          <a:xfrm>
            <a:off x="762000" y="3896767"/>
            <a:ext cx="2184350" cy="285750"/>
          </a:xfrm>
          <a:prstGeom prst="roundRect">
            <a:avLst>
              <a:gd name="adj" fmla="val 13333"/>
            </a:avLst>
          </a:prstGeom>
          <a:solidFill>
            <a:srgbClr val="16A08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8200" y="3972967"/>
            <a:ext cx="2072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sensitive to database coverage</a:t>
            </a:r>
            <a:endParaRPr lang="en-US" sz="750"/>
          </a:p>
        </p:txBody>
      </p:sp>
      <p:sp>
        <p:nvSpPr>
          <p:cNvPr id="17" name="Text 15"/>
          <p:cNvSpPr/>
          <p:nvPr/>
        </p:nvSpPr>
        <p:spPr>
          <a:xfrm>
            <a:off x="3289250" y="1706761"/>
            <a:ext cx="2565350" cy="2666256"/>
          </a:xfrm>
          <a:prstGeom prst="roundRect">
            <a:avLst>
              <a:gd name="adj" fmla="val 297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9750" y="1897261"/>
            <a:ext cx="222803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Centrifuge</a:t>
            </a:r>
            <a:endParaRPr lang="en-US" sz="1350"/>
          </a:p>
        </p:txBody>
      </p:sp>
      <p:sp>
        <p:nvSpPr>
          <p:cNvPr id="19" name="Text 17"/>
          <p:cNvSpPr/>
          <p:nvPr/>
        </p:nvSpPr>
        <p:spPr>
          <a:xfrm>
            <a:off x="3479750" y="2175272"/>
            <a:ext cx="333375" cy="28575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79750" y="2299097"/>
            <a:ext cx="2228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FM-Index Compression</a:t>
            </a:r>
            <a:endParaRPr lang="en-US" sz="825"/>
          </a:p>
        </p:txBody>
      </p:sp>
      <p:sp>
        <p:nvSpPr>
          <p:cNvPr id="21" name="Text 19"/>
          <p:cNvSpPr/>
          <p:nvPr/>
        </p:nvSpPr>
        <p:spPr>
          <a:xfrm>
            <a:off x="3479750" y="2540943"/>
            <a:ext cx="222803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Algorithm:</a:t>
            </a:r>
            <a:r>
              <a:rPr lang="en-US" sz="82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Burrows-Wheeler transform with FM-index</a:t>
            </a:r>
            <a:endParaRPr lang="en-US" sz="825"/>
          </a:p>
        </p:txBody>
      </p:sp>
      <p:sp>
        <p:nvSpPr>
          <p:cNvPr id="22" name="Text 20"/>
          <p:cNvSpPr/>
          <p:nvPr/>
        </p:nvSpPr>
        <p:spPr>
          <a:xfrm>
            <a:off x="3479750" y="2910334"/>
            <a:ext cx="2228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</a:t>
            </a:r>
            <a:r>
              <a:rPr lang="en-US" sz="82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Compressed RefSeq genomes</a:t>
            </a:r>
            <a:endParaRPr lang="en-US" sz="825"/>
          </a:p>
        </p:txBody>
      </p:sp>
      <p:sp>
        <p:nvSpPr>
          <p:cNvPr id="23" name="Text 21"/>
          <p:cNvSpPr/>
          <p:nvPr/>
        </p:nvSpPr>
        <p:spPr>
          <a:xfrm>
            <a:off x="3479750" y="3133130"/>
            <a:ext cx="2228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Speed:</a:t>
            </a:r>
            <a:r>
              <a:rPr lang="en-US" sz="82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Very fast (high throughput)</a:t>
            </a:r>
            <a:endParaRPr lang="en-US" sz="825"/>
          </a:p>
        </p:txBody>
      </p:sp>
      <p:sp>
        <p:nvSpPr>
          <p:cNvPr id="24" name="Text 22"/>
          <p:cNvSpPr/>
          <p:nvPr/>
        </p:nvSpPr>
        <p:spPr>
          <a:xfrm>
            <a:off x="3479750" y="3355925"/>
            <a:ext cx="2228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Memory:</a:t>
            </a:r>
            <a:r>
              <a:rPr lang="en-US" sz="82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Low (8-16GB typical)</a:t>
            </a:r>
            <a:endParaRPr lang="en-US" sz="825"/>
          </a:p>
        </p:txBody>
      </p:sp>
      <p:sp>
        <p:nvSpPr>
          <p:cNvPr id="25" name="Text 23"/>
          <p:cNvSpPr/>
          <p:nvPr/>
        </p:nvSpPr>
        <p:spPr>
          <a:xfrm>
            <a:off x="3479750" y="3578721"/>
            <a:ext cx="2228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r>
              <a:rPr lang="en-US" sz="82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Limited resources, broad surveys</a:t>
            </a:r>
            <a:endParaRPr lang="en-US" sz="825"/>
          </a:p>
        </p:txBody>
      </p:sp>
      <p:sp>
        <p:nvSpPr>
          <p:cNvPr id="26" name="Text 24"/>
          <p:cNvSpPr/>
          <p:nvPr/>
        </p:nvSpPr>
        <p:spPr>
          <a:xfrm>
            <a:off x="3479750" y="3896767"/>
            <a:ext cx="2184350" cy="285750"/>
          </a:xfrm>
          <a:prstGeom prst="roundRect">
            <a:avLst>
              <a:gd name="adj" fmla="val 13333"/>
            </a:avLst>
          </a:prstGeom>
          <a:solidFill>
            <a:srgbClr val="16A08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55950" y="3972967"/>
            <a:ext cx="2072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Memory-efficient for large databases</a:t>
            </a:r>
            <a:endParaRPr lang="en-US" sz="750"/>
          </a:p>
        </p:txBody>
      </p:sp>
      <p:sp>
        <p:nvSpPr>
          <p:cNvPr id="28" name="Text 26"/>
          <p:cNvSpPr/>
          <p:nvPr/>
        </p:nvSpPr>
        <p:spPr>
          <a:xfrm>
            <a:off x="6007001" y="1779984"/>
            <a:ext cx="2565350" cy="2519660"/>
          </a:xfrm>
          <a:prstGeom prst="roundRect">
            <a:avLst>
              <a:gd name="adj" fmla="val 3024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97501" y="1970484"/>
            <a:ext cx="222803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Kaiju</a:t>
            </a:r>
            <a:endParaRPr lang="en-US" sz="1350"/>
          </a:p>
        </p:txBody>
      </p:sp>
      <p:sp>
        <p:nvSpPr>
          <p:cNvPr id="30" name="Text 28"/>
          <p:cNvSpPr/>
          <p:nvPr/>
        </p:nvSpPr>
        <p:spPr>
          <a:xfrm>
            <a:off x="6197501" y="2248495"/>
            <a:ext cx="333375" cy="28575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97501" y="2372320"/>
            <a:ext cx="2228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Protein-Level Search</a:t>
            </a:r>
            <a:endParaRPr lang="en-US" sz="825"/>
          </a:p>
        </p:txBody>
      </p:sp>
      <p:sp>
        <p:nvSpPr>
          <p:cNvPr id="32" name="Text 30"/>
          <p:cNvSpPr/>
          <p:nvPr/>
        </p:nvSpPr>
        <p:spPr>
          <a:xfrm>
            <a:off x="6197501" y="2614166"/>
            <a:ext cx="2228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Algorithm:</a:t>
            </a:r>
            <a:r>
              <a:rPr lang="en-US" sz="82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Translated 6-frame protein search</a:t>
            </a:r>
            <a:endParaRPr lang="en-US" sz="825"/>
          </a:p>
        </p:txBody>
      </p:sp>
      <p:sp>
        <p:nvSpPr>
          <p:cNvPr id="33" name="Text 31"/>
          <p:cNvSpPr/>
          <p:nvPr/>
        </p:nvSpPr>
        <p:spPr>
          <a:xfrm>
            <a:off x="6197501" y="2836962"/>
            <a:ext cx="2228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</a:t>
            </a:r>
            <a:r>
              <a:rPr lang="en-US" sz="82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NCBI nr protein sequences</a:t>
            </a:r>
            <a:endParaRPr lang="en-US" sz="825"/>
          </a:p>
        </p:txBody>
      </p:sp>
      <p:sp>
        <p:nvSpPr>
          <p:cNvPr id="34" name="Text 32"/>
          <p:cNvSpPr/>
          <p:nvPr/>
        </p:nvSpPr>
        <p:spPr>
          <a:xfrm>
            <a:off x="6197501" y="3059757"/>
            <a:ext cx="2228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Speed:</a:t>
            </a:r>
            <a:r>
              <a:rPr lang="en-US" sz="82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Moderate (protein search overhead)</a:t>
            </a:r>
            <a:endParaRPr lang="en-US" sz="825"/>
          </a:p>
        </p:txBody>
      </p:sp>
      <p:sp>
        <p:nvSpPr>
          <p:cNvPr id="35" name="Text 33"/>
          <p:cNvSpPr/>
          <p:nvPr/>
        </p:nvSpPr>
        <p:spPr>
          <a:xfrm>
            <a:off x="6197501" y="3282553"/>
            <a:ext cx="2228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Memory:</a:t>
            </a:r>
            <a:r>
              <a:rPr lang="en-US" sz="82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Moderate (30-60GB typical)</a:t>
            </a:r>
            <a:endParaRPr lang="en-US" sz="825"/>
          </a:p>
        </p:txBody>
      </p:sp>
      <p:sp>
        <p:nvSpPr>
          <p:cNvPr id="36" name="Text 34"/>
          <p:cNvSpPr/>
          <p:nvPr/>
        </p:nvSpPr>
        <p:spPr>
          <a:xfrm>
            <a:off x="6197501" y="3505349"/>
            <a:ext cx="2228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r>
              <a:rPr lang="en-US" sz="82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Divergent sequences, viruses</a:t>
            </a:r>
            <a:endParaRPr lang="en-US" sz="825"/>
          </a:p>
        </p:txBody>
      </p:sp>
      <p:sp>
        <p:nvSpPr>
          <p:cNvPr id="37" name="Text 35"/>
          <p:cNvSpPr/>
          <p:nvPr/>
        </p:nvSpPr>
        <p:spPr>
          <a:xfrm>
            <a:off x="6197501" y="3823395"/>
            <a:ext cx="2184350" cy="285750"/>
          </a:xfrm>
          <a:prstGeom prst="roundRect">
            <a:avLst>
              <a:gd name="adj" fmla="val 13333"/>
            </a:avLst>
          </a:prstGeom>
          <a:solidFill>
            <a:srgbClr val="16A08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73701" y="3899595"/>
            <a:ext cx="2072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distantly related organisms</a:t>
            </a:r>
            <a:endParaRPr lang="en-US" sz="750"/>
          </a:p>
        </p:txBody>
      </p:sp>
      <p:sp>
        <p:nvSpPr>
          <p:cNvPr id="39" name="Text 37"/>
          <p:cNvSpPr/>
          <p:nvPr/>
        </p:nvSpPr>
        <p:spPr>
          <a:xfrm>
            <a:off x="571500" y="4525417"/>
            <a:ext cx="8001000" cy="413296"/>
          </a:xfrm>
          <a:prstGeom prst="roundRect">
            <a:avLst>
              <a:gd name="adj" fmla="val 18437"/>
            </a:avLst>
          </a:prstGeom>
          <a:solidFill>
            <a:srgbClr val="2C3E50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42950" y="4658767"/>
            <a:ext cx="78112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nf-core Strategy:</a:t>
            </a:r>
            <a:r>
              <a:rPr lang="en-US" sz="825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Parallel execution of all three tools maximizes detection across sequence divergence levels, database biases, and computational constraints</a:t>
            </a:r>
            <a:endParaRPr lang="en-US" sz="825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5572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Taxonomic Classification Results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571500" y="1123950"/>
            <a:ext cx="8001000" cy="567630"/>
          </a:xfrm>
          <a:prstGeom prst="roundRect">
            <a:avLst>
              <a:gd name="adj" fmla="val 13424"/>
            </a:avLst>
          </a:prstGeom>
          <a:solidFill>
            <a:srgbClr val="16A08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0550" y="1123950"/>
            <a:ext cx="0" cy="56763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0100" y="1314450"/>
            <a:ext cx="773353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 Organisms:</a:t>
            </a:r>
            <a:r>
              <a:rPr lang="en-US" sz="105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Multiple species identified across three independent classification methods</a:t>
            </a:r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571500" y="1882080"/>
            <a:ext cx="2540050" cy="1760041"/>
          </a:xfrm>
          <a:prstGeom prst="roundRect">
            <a:avLst>
              <a:gd name="adj" fmla="val 4329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0100" y="2110680"/>
            <a:ext cx="21245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Kraken2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800100" y="2529780"/>
            <a:ext cx="212450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 sapiens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800100" y="2754511"/>
            <a:ext cx="21245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~0.02% of reads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800100" y="3028801"/>
            <a:ext cx="212450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Saccharomyces cerevisiae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800100" y="3253532"/>
            <a:ext cx="21245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amounts detected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3302050" y="1882080"/>
            <a:ext cx="2540050" cy="1760041"/>
          </a:xfrm>
          <a:prstGeom prst="roundRect">
            <a:avLst>
              <a:gd name="adj" fmla="val 4329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30650" y="2110680"/>
            <a:ext cx="21245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Centrifuge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3530650" y="2529780"/>
            <a:ext cx="212450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Eucommia ulmoides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3530650" y="2754511"/>
            <a:ext cx="21245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~0.22% of reads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3530650" y="3028801"/>
            <a:ext cx="212450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 sapiens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3530650" y="3253532"/>
            <a:ext cx="21245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amounts detected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6032599" y="2039243"/>
            <a:ext cx="2540050" cy="1445716"/>
          </a:xfrm>
          <a:prstGeom prst="roundRect">
            <a:avLst>
              <a:gd name="adj" fmla="val 5271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61199" y="2267843"/>
            <a:ext cx="21245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Kaiju</a:t>
            </a:r>
            <a:endParaRPr lang="en-US" sz="1500"/>
          </a:p>
        </p:txBody>
      </p:sp>
      <p:sp>
        <p:nvSpPr>
          <p:cNvPr id="20" name="Text 18"/>
          <p:cNvSpPr/>
          <p:nvPr/>
        </p:nvSpPr>
        <p:spPr>
          <a:xfrm>
            <a:off x="6261199" y="2686943"/>
            <a:ext cx="21245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Protein-level analysis</a:t>
            </a:r>
            <a:endParaRPr lang="en-US" sz="975"/>
          </a:p>
        </p:txBody>
      </p:sp>
      <p:sp>
        <p:nvSpPr>
          <p:cNvPr id="21" name="Text 19"/>
          <p:cNvSpPr/>
          <p:nvPr/>
        </p:nvSpPr>
        <p:spPr>
          <a:xfrm>
            <a:off x="6261199" y="2936379"/>
            <a:ext cx="212450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species-level assignments at current stringency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571500" y="3832622"/>
            <a:ext cx="8001000" cy="798016"/>
          </a:xfrm>
          <a:prstGeom prst="roundRect">
            <a:avLst>
              <a:gd name="adj" fmla="val 9549"/>
            </a:avLst>
          </a:prstGeom>
          <a:solidFill>
            <a:srgbClr val="2C3E50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2950" y="4004072"/>
            <a:ext cx="781126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Species Detected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742950" y="4285952"/>
            <a:ext cx="78112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(Homo sapiens), Chinese rubber tree (Eucommia ulmoides), Baker's yeast (Saccharomyces cerevisiae)</a:t>
            </a:r>
            <a:endParaRPr lang="en-US" sz="975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Genome Alignment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571500" y="1714500"/>
            <a:ext cx="3215580" cy="2076301"/>
          </a:xfrm>
          <a:prstGeom prst="roundRect">
            <a:avLst>
              <a:gd name="adj" fmla="val 367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11378" y="1981200"/>
            <a:ext cx="2735824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560"/>
              </a:lnSpc>
              <a:spcAft>
                <a:spcPts val="1200"/>
              </a:spcAft>
              <a:buNone/>
            </a:pPr>
            <a:r>
              <a:rPr lang="en-US" sz="5400" b="1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5400"/>
          </a:p>
        </p:txBody>
      </p:sp>
      <p:sp>
        <p:nvSpPr>
          <p:cNvPr id="5" name="Text 3"/>
          <p:cNvSpPr/>
          <p:nvPr/>
        </p:nvSpPr>
        <p:spPr>
          <a:xfrm>
            <a:off x="811378" y="3093690"/>
            <a:ext cx="273582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Rate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811378" y="3364111"/>
            <a:ext cx="27358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bowtie2 to host reference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4015680" y="1549896"/>
            <a:ext cx="4556820" cy="2405509"/>
          </a:xfrm>
          <a:prstGeom prst="roundRect">
            <a:avLst>
              <a:gd name="adj" fmla="val 3168"/>
            </a:avLst>
          </a:prstGeom>
          <a:solidFill>
            <a:srgbClr val="2C3E50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82380" y="1816596"/>
            <a:ext cx="410388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1500"/>
              </a:spcAft>
              <a:buNone/>
            </a:pPr>
            <a:r>
              <a:rPr lang="en-US" sz="1350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Implications</a:t>
            </a:r>
            <a:endParaRPr lang="en-US" sz="1350"/>
          </a:p>
        </p:txBody>
      </p:sp>
      <p:sp>
        <p:nvSpPr>
          <p:cNvPr id="9" name="Text 7"/>
          <p:cNvSpPr/>
          <p:nvPr/>
        </p:nvSpPr>
        <p:spPr>
          <a:xfrm>
            <a:off x="4282380" y="2247007"/>
            <a:ext cx="41038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1050"/>
              </a:spcAft>
              <a:buNone/>
            </a:pPr>
            <a:r>
              <a:rPr lang="en-US" sz="97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host contamination detected</a:t>
            </a:r>
            <a:endParaRPr lang="en-US" sz="975"/>
          </a:p>
        </p:txBody>
      </p:sp>
      <p:sp>
        <p:nvSpPr>
          <p:cNvPr id="10" name="Text 8"/>
          <p:cNvSpPr/>
          <p:nvPr/>
        </p:nvSpPr>
        <p:spPr>
          <a:xfrm>
            <a:off x="4282380" y="2553593"/>
            <a:ext cx="41038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1050"/>
              </a:spcAft>
              <a:buNone/>
            </a:pPr>
            <a:r>
              <a:rPr lang="en-US" sz="97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reference genome mismatch</a:t>
            </a:r>
            <a:endParaRPr lang="en-US" sz="975"/>
          </a:p>
        </p:txBody>
      </p:sp>
      <p:sp>
        <p:nvSpPr>
          <p:cNvPr id="11" name="Text 9"/>
          <p:cNvSpPr/>
          <p:nvPr/>
        </p:nvSpPr>
        <p:spPr>
          <a:xfrm>
            <a:off x="4282380" y="2860179"/>
            <a:ext cx="41038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1050"/>
              </a:spcAft>
              <a:buNone/>
            </a:pPr>
            <a:r>
              <a:rPr lang="en-US" sz="97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reads available for taxonomic analysis</a:t>
            </a:r>
            <a:endParaRPr lang="en-US" sz="975"/>
          </a:p>
        </p:txBody>
      </p:sp>
      <p:sp>
        <p:nvSpPr>
          <p:cNvPr id="12" name="Text 10"/>
          <p:cNvSpPr/>
          <p:nvPr/>
        </p:nvSpPr>
        <p:spPr>
          <a:xfrm>
            <a:off x="4282380" y="3223915"/>
            <a:ext cx="4023420" cy="464790"/>
          </a:xfrm>
          <a:prstGeom prst="roundRect">
            <a:avLst>
              <a:gd name="adj" fmla="val 12296"/>
            </a:avLst>
          </a:prstGeom>
          <a:solidFill>
            <a:srgbClr val="16A08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34780" y="3376315"/>
            <a:ext cx="37929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host reference genome matches experimental design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571500" y="1123950"/>
            <a:ext cx="3905250" cy="1055043"/>
          </a:xfrm>
          <a:prstGeom prst="roundRect">
            <a:avLst>
              <a:gd name="adj" fmla="val 7222"/>
            </a:avLst>
          </a:prstGeom>
          <a:solidFill>
            <a:srgbClr val="16A08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0550" y="1123950"/>
            <a:ext cx="0" cy="1055043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9150" y="1333500"/>
            <a:ext cx="351701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Quality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819150" y="1622971"/>
            <a:ext cx="3517011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High-quality sequencing with 94.9% Q30 bases and 99.4% reads retained</a:t>
            </a:r>
            <a:endParaRPr lang="en-US" sz="975"/>
          </a:p>
        </p:txBody>
      </p:sp>
      <p:sp>
        <p:nvSpPr>
          <p:cNvPr id="7" name="Text 5"/>
          <p:cNvSpPr/>
          <p:nvPr/>
        </p:nvSpPr>
        <p:spPr>
          <a:xfrm>
            <a:off x="4667250" y="1210568"/>
            <a:ext cx="3905250" cy="881807"/>
          </a:xfrm>
          <a:prstGeom prst="roundRect">
            <a:avLst>
              <a:gd name="adj" fmla="val 8641"/>
            </a:avLst>
          </a:prstGeom>
          <a:solidFill>
            <a:srgbClr val="16A08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686300" y="1210568"/>
            <a:ext cx="0" cy="881807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14900" y="1420118"/>
            <a:ext cx="351701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Species Detected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4914900" y="1709589"/>
            <a:ext cx="351701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Human, Chinese rubber tree, and yeast identified across tools</a:t>
            </a:r>
            <a:endParaRPr lang="en-US" sz="975"/>
          </a:p>
        </p:txBody>
      </p:sp>
      <p:sp>
        <p:nvSpPr>
          <p:cNvPr id="11" name="Text 9"/>
          <p:cNvSpPr/>
          <p:nvPr/>
        </p:nvSpPr>
        <p:spPr>
          <a:xfrm>
            <a:off x="571500" y="2369493"/>
            <a:ext cx="8001000" cy="1889522"/>
          </a:xfrm>
          <a:prstGeom prst="roundRect">
            <a:avLst>
              <a:gd name="adj" fmla="val 4033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19150" y="2617143"/>
            <a:ext cx="7655814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Aft>
                <a:spcPts val="1350"/>
              </a:spcAft>
              <a:buNone/>
            </a:pPr>
            <a:r>
              <a:rPr lang="en-US" sz="1275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Organisms Summary</a:t>
            </a:r>
            <a:endParaRPr lang="en-US" sz="1275"/>
          </a:p>
        </p:txBody>
      </p:sp>
      <p:sp>
        <p:nvSpPr>
          <p:cNvPr id="13" name="Text 11"/>
          <p:cNvSpPr/>
          <p:nvPr/>
        </p:nvSpPr>
        <p:spPr>
          <a:xfrm>
            <a:off x="819150" y="3015258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975"/>
          </a:p>
        </p:txBody>
      </p:sp>
      <p:sp>
        <p:nvSpPr>
          <p:cNvPr id="14" name="Text 12"/>
          <p:cNvSpPr/>
          <p:nvPr/>
        </p:nvSpPr>
        <p:spPr>
          <a:xfrm>
            <a:off x="819150" y="3283744"/>
            <a:ext cx="36918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151 bp paired-end reads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819150" y="3481834"/>
            <a:ext cx="36918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1.3M filtered reads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819150" y="3679924"/>
            <a:ext cx="36918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duplication (0.5%)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4705350" y="3015258"/>
            <a:ext cx="369189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 Species</a:t>
            </a:r>
            <a:endParaRPr lang="en-US" sz="975"/>
          </a:p>
        </p:txBody>
      </p:sp>
      <p:sp>
        <p:nvSpPr>
          <p:cNvPr id="18" name="Text 16"/>
          <p:cNvSpPr/>
          <p:nvPr/>
        </p:nvSpPr>
        <p:spPr>
          <a:xfrm>
            <a:off x="4705350" y="3283744"/>
            <a:ext cx="36918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 sapiens (Human)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4705350" y="3481834"/>
            <a:ext cx="36918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Eucommia ulmoides (Plant)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4705350" y="3679924"/>
            <a:ext cx="36918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Saccharomyces cerevisiae (Yeast)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571500" y="4449514"/>
            <a:ext cx="8001000" cy="464790"/>
          </a:xfrm>
          <a:prstGeom prst="roundRect">
            <a:avLst>
              <a:gd name="adj" fmla="val 16395"/>
            </a:avLst>
          </a:prstGeom>
          <a:solidFill>
            <a:srgbClr val="2C3E50">
              <a:alpha val="9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3900" y="4601914"/>
            <a:ext cx="78501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species identified with complementary classification methods detecting human, plant, and fungal sequences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&amp; Analysis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571500" y="1123950"/>
            <a:ext cx="3914775" cy="1422946"/>
          </a:xfrm>
          <a:prstGeom prst="roundRect">
            <a:avLst>
              <a:gd name="adj" fmla="val 535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81050" y="1333500"/>
            <a:ext cx="3565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1050"/>
              </a:spcAft>
              <a:buNone/>
            </a:pPr>
            <a:r>
              <a:rPr lang="en-US" sz="1125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Characterize Detected Species</a:t>
            </a:r>
            <a:endParaRPr lang="en-US" sz="1125"/>
          </a:p>
        </p:txBody>
      </p:sp>
      <p:sp>
        <p:nvSpPr>
          <p:cNvPr id="5" name="Text 3"/>
          <p:cNvSpPr/>
          <p:nvPr/>
        </p:nvSpPr>
        <p:spPr>
          <a:xfrm>
            <a:off x="781050" y="1666875"/>
            <a:ext cx="35655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human DNA source and concentration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781050" y="1922115"/>
            <a:ext cx="35655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Eucommia ulmoides presence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781050" y="2177355"/>
            <a:ext cx="35655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yeast contamination significance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4657725" y="1123950"/>
            <a:ext cx="3914775" cy="1422946"/>
          </a:xfrm>
          <a:prstGeom prst="roundRect">
            <a:avLst>
              <a:gd name="adj" fmla="val 535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67275" y="1333500"/>
            <a:ext cx="3565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1050"/>
              </a:spcAft>
              <a:buNone/>
            </a:pPr>
            <a:r>
              <a:rPr lang="en-US" sz="1125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Classification</a:t>
            </a:r>
            <a:endParaRPr lang="en-US" sz="1125"/>
          </a:p>
        </p:txBody>
      </p:sp>
      <p:sp>
        <p:nvSpPr>
          <p:cNvPr id="10" name="Text 8"/>
          <p:cNvSpPr/>
          <p:nvPr/>
        </p:nvSpPr>
        <p:spPr>
          <a:xfrm>
            <a:off x="4867275" y="1666875"/>
            <a:ext cx="35655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stringency thresholds for more hits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4867275" y="1922115"/>
            <a:ext cx="35655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genus and family level classification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4867275" y="2177355"/>
            <a:ext cx="35655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expanded reference databases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571500" y="2718346"/>
            <a:ext cx="3914775" cy="1422946"/>
          </a:xfrm>
          <a:prstGeom prst="roundRect">
            <a:avLst>
              <a:gd name="adj" fmla="val 535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1050" y="2927896"/>
            <a:ext cx="3565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1050"/>
              </a:spcAft>
              <a:buNone/>
            </a:pPr>
            <a:r>
              <a:rPr lang="en-US" sz="1125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Analysis</a:t>
            </a:r>
            <a:endParaRPr lang="en-US" sz="1125"/>
          </a:p>
        </p:txBody>
      </p:sp>
      <p:sp>
        <p:nvSpPr>
          <p:cNvPr id="15" name="Text 13"/>
          <p:cNvSpPr/>
          <p:nvPr/>
        </p:nvSpPr>
        <p:spPr>
          <a:xfrm>
            <a:off x="781050" y="3261271"/>
            <a:ext cx="35655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 genes for detected species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781050" y="3516511"/>
            <a:ext cx="35655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metabolic pathway analysis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781050" y="3771751"/>
            <a:ext cx="35655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functional profiles across samples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4657725" y="2718346"/>
            <a:ext cx="3914775" cy="1422946"/>
          </a:xfrm>
          <a:prstGeom prst="roundRect">
            <a:avLst>
              <a:gd name="adj" fmla="val 535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67275" y="2927896"/>
            <a:ext cx="3565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1050"/>
              </a:spcAft>
              <a:buNone/>
            </a:pPr>
            <a:r>
              <a:rPr lang="en-US" sz="1125" b="1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Assembly Approach</a:t>
            </a:r>
            <a:endParaRPr lang="en-US" sz="1125"/>
          </a:p>
        </p:txBody>
      </p:sp>
      <p:sp>
        <p:nvSpPr>
          <p:cNvPr id="20" name="Text 18"/>
          <p:cNvSpPr/>
          <p:nvPr/>
        </p:nvSpPr>
        <p:spPr>
          <a:xfrm>
            <a:off x="4867275" y="3261271"/>
            <a:ext cx="35655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novo assembly for novel sequences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4867275" y="3516511"/>
            <a:ext cx="35655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 contigs by taxonomic affinity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4867275" y="3771751"/>
            <a:ext cx="35655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 population genomes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571500" y="4312741"/>
            <a:ext cx="8001000" cy="502890"/>
          </a:xfrm>
          <a:prstGeom prst="roundRect">
            <a:avLst>
              <a:gd name="adj" fmla="val 15152"/>
            </a:avLst>
          </a:prstGeom>
          <a:solidFill>
            <a:srgbClr val="16A085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0550" y="4312741"/>
            <a:ext cx="0" cy="50289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1050" y="4484191"/>
            <a:ext cx="77724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</a:t>
            </a:r>
            <a:r>
              <a:rPr lang="en-US" sz="9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Investigate the biological significance of human, plant, and fungal sequences in sample context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d8d15e7-eda9-4fcc-84d7-aa436e570cc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0198D32E30E0469D6BCEC9140EF332" ma:contentTypeVersion="15" ma:contentTypeDescription="Create a new document." ma:contentTypeScope="" ma:versionID="ab5d71b88f3abc320b4d2c2dd47b23fa">
  <xsd:schema xmlns:xsd="http://www.w3.org/2001/XMLSchema" xmlns:xs="http://www.w3.org/2001/XMLSchema" xmlns:p="http://schemas.microsoft.com/office/2006/metadata/properties" xmlns:ns3="ed8d15e7-eda9-4fcc-84d7-aa436e570cc8" xmlns:ns4="a7450441-62e4-47ed-9f6f-9ec99715c9ee" targetNamespace="http://schemas.microsoft.com/office/2006/metadata/properties" ma:root="true" ma:fieldsID="10e49d7980dcf6bbd4857930d56396b5" ns3:_="" ns4:_="">
    <xsd:import namespace="ed8d15e7-eda9-4fcc-84d7-aa436e570cc8"/>
    <xsd:import namespace="a7450441-62e4-47ed-9f6f-9ec99715c9e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DateTaken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8d15e7-eda9-4fcc-84d7-aa436e570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450441-62e4-47ed-9f6f-9ec99715c9e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63037D-3ADE-4263-882D-D7A9E372DAB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5DBBB21-93AF-497C-B720-B0ACE020D63A}">
  <ds:schemaRefs>
    <ds:schemaRef ds:uri="a7450441-62e4-47ed-9f6f-9ec99715c9ee"/>
    <ds:schemaRef ds:uri="ed8d15e7-eda9-4fcc-84d7-aa436e570cc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3F5ACC9-F7FC-42E9-99AE-5097FE13B237}">
  <ds:schemaRefs>
    <ds:schemaRef ds:uri="a7450441-62e4-47ed-9f6f-9ec99715c9ee"/>
    <ds:schemaRef ds:uri="ed8d15e7-eda9-4fcc-84d7-aa436e570cc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15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4</cp:revision>
  <dcterms:created xsi:type="dcterms:W3CDTF">2025-11-22T17:39:21Z</dcterms:created>
  <dcterms:modified xsi:type="dcterms:W3CDTF">2025-11-24T17:33:03Z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0x010100BA0198D32E30E0469D6BCEC9140EF332</vt:lpwstr>
  </property>
</Properties>
</file>